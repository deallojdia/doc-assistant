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53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0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03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"/>
            <a:ext cx="4389120" cy="4389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686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Z A N T I 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86968" y="1965960"/>
            <a:ext cx="82296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354580"/>
            <a:ext cx="9144000" cy="1531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D9A9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Assistant over internal documents</a:t>
            </a:r>
            <a:endParaRPr lang="en-US" sz="5400" dirty="0">
              <a:latin typeface="Bookman Old Style" panose="020506040505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094480"/>
            <a:ext cx="7589520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9B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Një sistem RAG që lexon dokumentet e brendshme dhe përgjigjet me burim —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9B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 me hamendje.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Ë R M B A J T J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Gjashtë fazat e projektit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7452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2212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Identifikimi i nevojës dhe qëllimit të projektit.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25496"/>
            <a:ext cx="10332720" cy="0"/>
          </a:xfrm>
          <a:prstGeom prst="line">
            <a:avLst/>
          </a:prstGeom>
          <a:noFill/>
          <a:ln w="9525">
            <a:solidFill>
              <a:srgbClr val="D8CF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92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74520" y="28666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Planifikimi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9032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Aktorët,dhe</a:t>
            </a: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fazat që do ndiqen.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15868"/>
            <a:ext cx="10332720" cy="0"/>
          </a:xfrm>
          <a:prstGeom prst="line">
            <a:avLst/>
          </a:prstGeom>
          <a:noFill/>
          <a:ln w="9525">
            <a:solidFill>
              <a:srgbClr val="D8C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958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74520" y="3557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Analiza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5935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Teknologjitë, </a:t>
            </a:r>
            <a:r>
              <a:rPr lang="en-US" sz="12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arkitektura,kerkesat</a:t>
            </a: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projektit</a:t>
            </a: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dhe flow-i i sistemit.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10332720" cy="0"/>
          </a:xfrm>
          <a:prstGeom prst="line">
            <a:avLst/>
          </a:prstGeom>
          <a:noFill/>
          <a:ln w="9525">
            <a:solidFill>
              <a:srgbClr val="D8CF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1995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74520" y="42473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Dizajni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428396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e ndërfaqes së përdoruesit.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896612"/>
            <a:ext cx="10332720" cy="0"/>
          </a:xfrm>
          <a:prstGeom prst="line">
            <a:avLst/>
          </a:prstGeom>
          <a:noFill/>
          <a:ln w="9525">
            <a:solidFill>
              <a:srgbClr val="D8CF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103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87452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Zhvillimi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49743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Implementimi real i sistemit.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586984"/>
            <a:ext cx="10332720" cy="0"/>
          </a:xfrm>
          <a:prstGeom prst="line">
            <a:avLst/>
          </a:prstGeom>
          <a:noFill/>
          <a:ln w="9525">
            <a:solidFill>
              <a:srgbClr val="D8CF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007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D6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874520" y="56281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Testimi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56647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Verifikimi që sistemi funksionon si duhet.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FAZA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Identifikimi</a:t>
            </a: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i Problemit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6576" cy="324612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Çfarë</a:t>
            </a: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6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është</a:t>
            </a: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assistant over internal documents?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47091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300" dirty="0">
              <a:solidFill>
                <a:srgbClr val="2B211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300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 RAG =Retrieval-Augmented Generation që lejon ngarkimin e dokumenteve të </a:t>
            </a:r>
            <a:r>
              <a:rPr lang="en-US" sz="1300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brendshme</a:t>
            </a: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PDF, Markdown dhe pyetje mbi to në gjuhë </a:t>
            </a:r>
            <a:r>
              <a:rPr lang="en-US" sz="1300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natyrale</a:t>
            </a:r>
            <a:r>
              <a:rPr lang="en-US" sz="1300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Përgjigjet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nuk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shpiken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nga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modeli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por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mbështeten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direkt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në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pjesë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specifike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të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dokumenteve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 me </a:t>
            </a:r>
            <a:r>
              <a:rPr lang="en-US" sz="1300" i="1" dirty="0" err="1">
                <a:latin typeface="+mj-lt"/>
                <a:ea typeface="Cambria" pitchFamily="34" charset="-122"/>
                <a:cs typeface="Cambria" pitchFamily="34" charset="-120"/>
              </a:rPr>
              <a:t>burimit</a:t>
            </a:r>
            <a:r>
              <a:rPr lang="en-US" sz="1300" i="1" dirty="0">
                <a:latin typeface="+mj-lt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 rot="10800000" flipV="1">
            <a:off x="1051560" y="3337560"/>
            <a:ext cx="4709160" cy="209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latin typeface="Bookman Old Style" panose="02050604050505020204" pitchFamily="18" charset="0"/>
                <a:ea typeface="Cambria" pitchFamily="34" charset="-122"/>
              </a:rPr>
              <a:t>Pse</a:t>
            </a:r>
            <a:r>
              <a:rPr lang="en-US" sz="1600" b="1" dirty="0">
                <a:latin typeface="Bookman Old Style" panose="02050604050505020204" pitchFamily="18" charset="0"/>
                <a:ea typeface="Cambria" pitchFamily="34" charset="-122"/>
              </a:rPr>
              <a:t> </a:t>
            </a:r>
            <a:r>
              <a:rPr lang="en-US" sz="1600" b="1" dirty="0" err="1">
                <a:latin typeface="Bookman Old Style" panose="02050604050505020204" pitchFamily="18" charset="0"/>
                <a:ea typeface="Cambria" pitchFamily="34" charset="-122"/>
              </a:rPr>
              <a:t>une</a:t>
            </a:r>
            <a:r>
              <a:rPr lang="en-US" sz="1600" b="1" dirty="0">
                <a:latin typeface="Bookman Old Style" panose="02050604050505020204" pitchFamily="18" charset="0"/>
                <a:ea typeface="Cambria" pitchFamily="34" charset="-122"/>
              </a:rPr>
              <a:t> e </a:t>
            </a:r>
            <a:r>
              <a:rPr lang="en-US" sz="1600" b="1" dirty="0" err="1">
                <a:latin typeface="Bookman Old Style" panose="02050604050505020204" pitchFamily="18" charset="0"/>
                <a:ea typeface="Cambria" pitchFamily="34" charset="-122"/>
              </a:rPr>
              <a:t>krijova</a:t>
            </a:r>
            <a:r>
              <a:rPr lang="en-US" sz="1600" b="1" dirty="0">
                <a:latin typeface="Bookman Old Style" panose="02050604050505020204" pitchFamily="18" charset="0"/>
                <a:ea typeface="Cambria" pitchFamily="34" charset="-122"/>
              </a:rPr>
              <a:t>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latin typeface="+mj-lt"/>
                <a:ea typeface="Cambria" panose="02040503050406030204" pitchFamily="18" charset="0"/>
              </a:rPr>
              <a:t>E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krijova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për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ndihmuar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punonjësit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gjejnë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shpejt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informacionin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në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dokumentet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e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kompanisë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.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Sistemi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përdor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RAG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për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dhënë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përgjigje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sakta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,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bazuara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në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dokumente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dhe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me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burim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të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verifikueshëm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, duke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reduktuar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gabimet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dhe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konfuzionin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mes</a:t>
            </a:r>
            <a:r>
              <a:rPr lang="en-US" sz="1300" i="1" dirty="0">
                <a:latin typeface="+mj-lt"/>
                <a:ea typeface="Cambria" panose="02040503050406030204" pitchFamily="18" charset="0"/>
              </a:rPr>
              <a:t> </a:t>
            </a:r>
            <a:r>
              <a:rPr lang="en-US" sz="1300" i="1" dirty="0" err="1">
                <a:latin typeface="+mj-lt"/>
                <a:ea typeface="Cambria" panose="02040503050406030204" pitchFamily="18" charset="0"/>
              </a:rPr>
              <a:t>versioneve</a:t>
            </a:r>
            <a:endParaRPr lang="en-US" sz="1300" i="1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Problemet e </a:t>
            </a:r>
            <a:r>
              <a:rPr lang="en-US" sz="16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identifikuara</a:t>
            </a: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i shpërndarë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03720" y="2852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Punonjësit humbin kohë duke kërkuar nëpër shumë dokumente.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3337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Konflikte mes versioneve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03720" y="3630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 err="1"/>
              <a:t>Ndryshojne</a:t>
            </a:r>
            <a:r>
              <a:rPr lang="en-US" sz="1150" dirty="0"/>
              <a:t> </a:t>
            </a:r>
            <a:r>
              <a:rPr lang="en-US" sz="1150" dirty="0" err="1"/>
              <a:t>dokumentave</a:t>
            </a:r>
            <a:r>
              <a:rPr lang="en-US" sz="1150" dirty="0"/>
              <a:t> ne </a:t>
            </a:r>
            <a:r>
              <a:rPr lang="en-US" sz="1150" dirty="0" err="1"/>
              <a:t>baze</a:t>
            </a:r>
            <a:r>
              <a:rPr lang="en-US" sz="1150" dirty="0"/>
              <a:t> </a:t>
            </a:r>
            <a:r>
              <a:rPr lang="en-US" sz="1150" dirty="0" err="1"/>
              <a:t>te</a:t>
            </a:r>
            <a:r>
              <a:rPr lang="en-US" sz="1150" dirty="0"/>
              <a:t> </a:t>
            </a:r>
            <a:r>
              <a:rPr lang="en-US" sz="1150" dirty="0" err="1"/>
              <a:t>viteve</a:t>
            </a:r>
            <a:r>
              <a:rPr lang="en-US" sz="1150" dirty="0"/>
              <a:t>.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Mungesë</a:t>
            </a:r>
            <a:r>
              <a:rPr lang="en-US" sz="135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r>
              <a:rPr lang="en-US" sz="135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dhenash</a:t>
            </a:r>
            <a:r>
              <a:rPr lang="en-US" sz="135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03720" y="4407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 dihet nga cili dokument/version vjen përgjigja.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FAZA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Planifikimi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4203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242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Aktorët</a:t>
            </a: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e </a:t>
            </a:r>
            <a:r>
              <a:rPr lang="en-US" sz="16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projektit</a:t>
            </a: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1840" y="2156968"/>
            <a:ext cx="50292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553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Zhvilluesi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Analizë, dizajn, </a:t>
            </a:r>
            <a:r>
              <a:rPr lang="en-US" sz="120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zhvillim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43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Perdoruesit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Ngarkon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dokumente, bën pyetje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82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dokumentesh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Menaxhon</a:t>
            </a: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76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5623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D3861DC-95BD-CF6D-EE0A-C8D847EC4382}"/>
              </a:ext>
            </a:extLst>
          </p:cNvPr>
          <p:cNvSpPr/>
          <p:nvPr/>
        </p:nvSpPr>
        <p:spPr>
          <a:xfrm>
            <a:off x="5516880" y="1072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latin typeface="Bookman Old Style" panose="02050604050505020204" pitchFamily="18" charset="0"/>
              </a:rPr>
              <a:t>Kerkesat</a:t>
            </a:r>
            <a:r>
              <a:rPr lang="en-US" sz="1600" b="1" dirty="0">
                <a:latin typeface="Bookman Old Style" panose="02050604050505020204" pitchFamily="18" charset="0"/>
              </a:rPr>
              <a:t> e </a:t>
            </a:r>
            <a:r>
              <a:rPr lang="en-US" sz="1600" b="1" dirty="0" err="1">
                <a:latin typeface="Bookman Old Style" panose="02050604050505020204" pitchFamily="18" charset="0"/>
              </a:rPr>
              <a:t>projektit</a:t>
            </a:r>
            <a:r>
              <a:rPr lang="en-US" sz="1600" b="1" dirty="0">
                <a:latin typeface="Bookman Old Style" panose="02050604050505020204" pitchFamily="18" charset="0"/>
              </a:rPr>
              <a:t>:</a:t>
            </a: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55378205-DC43-412E-E1C8-7243A7FDA2DF}"/>
              </a:ext>
            </a:extLst>
          </p:cNvPr>
          <p:cNvSpPr/>
          <p:nvPr/>
        </p:nvSpPr>
        <p:spPr>
          <a:xfrm>
            <a:off x="5405120" y="1374140"/>
            <a:ext cx="4937760" cy="424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Frontend:</a:t>
            </a:r>
            <a:endParaRPr lang="en-US" sz="1300" dirty="0"/>
          </a:p>
          <a:p>
            <a:pPr>
              <a:buFont typeface="+mj-lt"/>
              <a:buAutoNum type="arabicPeriod"/>
            </a:pPr>
            <a:r>
              <a:rPr lang="en-US" sz="1300" dirty="0" err="1"/>
              <a:t>Mundësi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</a:t>
            </a:r>
            <a:r>
              <a:rPr lang="en-US" sz="1300" dirty="0" err="1"/>
              <a:t>ngarkimin</a:t>
            </a:r>
            <a:r>
              <a:rPr lang="en-US" sz="1300" dirty="0"/>
              <a:t> e </a:t>
            </a:r>
            <a:r>
              <a:rPr lang="en-US" sz="1300" dirty="0" err="1"/>
              <a:t>dokumenteve</a:t>
            </a:r>
            <a:r>
              <a:rPr lang="en-US" sz="1300" dirty="0"/>
              <a:t> PDF </a:t>
            </a:r>
            <a:r>
              <a:rPr lang="en-US" sz="1300" dirty="0" err="1"/>
              <a:t>dhe</a:t>
            </a:r>
            <a:r>
              <a:rPr lang="en-US" sz="1300" dirty="0"/>
              <a:t> Markdown. </a:t>
            </a:r>
          </a:p>
          <a:p>
            <a:pPr>
              <a:buFont typeface="+mj-lt"/>
              <a:buAutoNum type="arabicPeriod"/>
            </a:pPr>
            <a:r>
              <a:rPr lang="en-US" sz="1300" dirty="0" err="1"/>
              <a:t>Kuti</a:t>
            </a:r>
            <a:r>
              <a:rPr lang="en-US" sz="1300" dirty="0"/>
              <a:t> </a:t>
            </a:r>
            <a:r>
              <a:rPr lang="en-US" sz="1300" dirty="0" err="1"/>
              <a:t>kërkimi</a:t>
            </a:r>
            <a:r>
              <a:rPr lang="en-US" sz="1300" dirty="0"/>
              <a:t>/chat-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bërë</a:t>
            </a:r>
            <a:r>
              <a:rPr lang="en-US" sz="1300" dirty="0"/>
              <a:t> </a:t>
            </a:r>
            <a:r>
              <a:rPr lang="en-US" sz="1300" dirty="0" err="1"/>
              <a:t>pyetje</a:t>
            </a:r>
            <a:r>
              <a:rPr lang="en-US" sz="13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1300" dirty="0" err="1"/>
              <a:t>Shfaqja</a:t>
            </a:r>
            <a:r>
              <a:rPr lang="en-US" sz="1300" dirty="0"/>
              <a:t> e </a:t>
            </a:r>
            <a:r>
              <a:rPr lang="en-US" sz="1300" dirty="0" err="1"/>
              <a:t>përgjigjes</a:t>
            </a:r>
            <a:r>
              <a:rPr lang="en-US" sz="1300" dirty="0"/>
              <a:t> </a:t>
            </a:r>
            <a:r>
              <a:rPr lang="en-US" sz="1300" dirty="0" err="1"/>
              <a:t>së</a:t>
            </a:r>
            <a:r>
              <a:rPr lang="en-US" sz="1300" dirty="0"/>
              <a:t> </a:t>
            </a:r>
            <a:r>
              <a:rPr lang="en-US" sz="1300" dirty="0" err="1"/>
              <a:t>bashku</a:t>
            </a:r>
            <a:r>
              <a:rPr lang="en-US" sz="1300" dirty="0"/>
              <a:t> me </a:t>
            </a:r>
            <a:r>
              <a:rPr lang="en-US" sz="1300" dirty="0" err="1"/>
              <a:t>dokumentin</a:t>
            </a:r>
            <a:r>
              <a:rPr lang="en-US" sz="1300" dirty="0"/>
              <a:t> </a:t>
            </a:r>
            <a:r>
              <a:rPr lang="en-US" sz="1300" dirty="0" err="1"/>
              <a:t>burim</a:t>
            </a:r>
            <a:r>
              <a:rPr lang="en-US" sz="1300" dirty="0"/>
              <a:t>, </a:t>
            </a:r>
            <a:r>
              <a:rPr lang="en-US" sz="1300" dirty="0" err="1"/>
              <a:t>pjesën</a:t>
            </a:r>
            <a:r>
              <a:rPr lang="en-US" sz="1300" dirty="0"/>
              <a:t> </a:t>
            </a:r>
            <a:r>
              <a:rPr lang="en-US" sz="1300" dirty="0" err="1"/>
              <a:t>përkatëse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tekstit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datën</a:t>
            </a:r>
            <a:r>
              <a:rPr lang="en-US" sz="1300" dirty="0"/>
              <a:t>/</a:t>
            </a:r>
            <a:r>
              <a:rPr lang="en-US" sz="1300" dirty="0" err="1"/>
              <a:t>versionin</a:t>
            </a:r>
            <a:r>
              <a:rPr lang="en-US" sz="1300" dirty="0"/>
              <a:t>. </a:t>
            </a:r>
          </a:p>
          <a:p>
            <a:r>
              <a:rPr lang="en-US" sz="1300" b="1" dirty="0"/>
              <a:t>Backend:</a:t>
            </a:r>
            <a:br>
              <a:rPr lang="en-US" sz="1300" dirty="0"/>
            </a:br>
            <a:r>
              <a:rPr lang="en-US" sz="1300" dirty="0"/>
              <a:t>4. </a:t>
            </a:r>
            <a:r>
              <a:rPr lang="en-US" sz="1300" dirty="0" err="1"/>
              <a:t>Ruajtja</a:t>
            </a:r>
            <a:r>
              <a:rPr lang="en-US" sz="1300" dirty="0"/>
              <a:t> e </a:t>
            </a:r>
            <a:r>
              <a:rPr lang="en-US" sz="1300" dirty="0" err="1"/>
              <a:t>dokumenteve</a:t>
            </a:r>
            <a:r>
              <a:rPr lang="en-US" sz="1300" dirty="0"/>
              <a:t> </a:t>
            </a:r>
            <a:r>
              <a:rPr lang="en-US" sz="1300" dirty="0" err="1"/>
              <a:t>origjinale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5. </a:t>
            </a:r>
            <a:r>
              <a:rPr lang="en-US" sz="1300" dirty="0" err="1"/>
              <a:t>Nxjerrja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ndarja</a:t>
            </a:r>
            <a:r>
              <a:rPr lang="en-US" sz="1300" dirty="0"/>
              <a:t> e </a:t>
            </a:r>
            <a:r>
              <a:rPr lang="en-US" sz="1300" dirty="0" err="1"/>
              <a:t>tekstit</a:t>
            </a:r>
            <a:r>
              <a:rPr lang="en-US" sz="1300" dirty="0"/>
              <a:t> </a:t>
            </a:r>
            <a:r>
              <a:rPr lang="en-US" sz="1300" dirty="0" err="1"/>
              <a:t>në</a:t>
            </a:r>
            <a:r>
              <a:rPr lang="en-US" sz="1300" dirty="0"/>
              <a:t> </a:t>
            </a:r>
            <a:r>
              <a:rPr lang="en-US" sz="1300" dirty="0" err="1"/>
              <a:t>pjesë</a:t>
            </a:r>
            <a:r>
              <a:rPr lang="en-US" sz="1300" dirty="0"/>
              <a:t> (chunks).</a:t>
            </a:r>
            <a:br>
              <a:rPr lang="en-US" sz="1300" dirty="0"/>
            </a:br>
            <a:r>
              <a:rPr lang="en-US" sz="1300" dirty="0"/>
              <a:t>6. </a:t>
            </a:r>
            <a:r>
              <a:rPr lang="en-US" sz="1300" dirty="0" err="1"/>
              <a:t>Krijimi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ruajtja</a:t>
            </a:r>
            <a:r>
              <a:rPr lang="en-US" sz="1300" dirty="0"/>
              <a:t> e embeddings me metadata.</a:t>
            </a:r>
            <a:br>
              <a:rPr lang="en-US" sz="1300" dirty="0"/>
            </a:br>
            <a:r>
              <a:rPr lang="en-US" sz="1300" dirty="0"/>
              <a:t>7. </a:t>
            </a:r>
            <a:r>
              <a:rPr lang="en-US" sz="1300" dirty="0" err="1"/>
              <a:t>Kërkimi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pjesëve</a:t>
            </a:r>
            <a:r>
              <a:rPr lang="en-US" sz="1300" dirty="0"/>
              <a:t> </a:t>
            </a:r>
            <a:r>
              <a:rPr lang="en-US" sz="1300" dirty="0" err="1"/>
              <a:t>më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përshtatshme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</a:t>
            </a:r>
            <a:r>
              <a:rPr lang="en-US" sz="1300" dirty="0" err="1"/>
              <a:t>çdo</a:t>
            </a:r>
            <a:r>
              <a:rPr lang="en-US" sz="1300" dirty="0"/>
              <a:t> </a:t>
            </a:r>
            <a:r>
              <a:rPr lang="en-US" sz="1300" dirty="0" err="1"/>
              <a:t>pyetje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8. </a:t>
            </a:r>
            <a:r>
              <a:rPr lang="en-US" sz="1300" dirty="0" err="1"/>
              <a:t>Gjenerimi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përgjigjeve</a:t>
            </a:r>
            <a:r>
              <a:rPr lang="en-US" sz="1300" dirty="0"/>
              <a:t> </a:t>
            </a:r>
            <a:r>
              <a:rPr lang="en-US" sz="1300" dirty="0" err="1"/>
              <a:t>vetëm</a:t>
            </a:r>
            <a:r>
              <a:rPr lang="en-US" sz="1300" dirty="0"/>
              <a:t> </a:t>
            </a:r>
            <a:r>
              <a:rPr lang="en-US" sz="1300" dirty="0" err="1"/>
              <a:t>nga</a:t>
            </a:r>
            <a:r>
              <a:rPr lang="en-US" sz="1300" dirty="0"/>
              <a:t> </a:t>
            </a:r>
            <a:r>
              <a:rPr lang="en-US" sz="1300" dirty="0" err="1"/>
              <a:t>informacioni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gjetur</a:t>
            </a:r>
            <a:r>
              <a:rPr lang="en-US" sz="1300" dirty="0"/>
              <a:t> </a:t>
            </a:r>
            <a:r>
              <a:rPr lang="en-US" sz="1300" dirty="0" err="1"/>
              <a:t>në</a:t>
            </a:r>
            <a:r>
              <a:rPr lang="en-US" sz="1300" dirty="0"/>
              <a:t> </a:t>
            </a:r>
            <a:r>
              <a:rPr lang="en-US" sz="1300" dirty="0" err="1"/>
              <a:t>dokumente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9. </a:t>
            </a:r>
            <a:r>
              <a:rPr lang="en-US" sz="1300" dirty="0" err="1"/>
              <a:t>Ruajtja</a:t>
            </a:r>
            <a:r>
              <a:rPr lang="en-US" sz="1300" dirty="0"/>
              <a:t> e </a:t>
            </a:r>
            <a:r>
              <a:rPr lang="en-US" sz="1300" dirty="0" err="1"/>
              <a:t>versionit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datës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</a:t>
            </a:r>
            <a:r>
              <a:rPr lang="en-US" sz="1300" dirty="0" err="1"/>
              <a:t>çdo</a:t>
            </a:r>
            <a:r>
              <a:rPr lang="en-US" sz="1300" dirty="0"/>
              <a:t> </a:t>
            </a:r>
            <a:r>
              <a:rPr lang="en-US" sz="1300" dirty="0" err="1"/>
              <a:t>pjesë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dokumentit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10. </a:t>
            </a:r>
            <a:r>
              <a:rPr lang="en-US" sz="1300" dirty="0" err="1"/>
              <a:t>Identifikimi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konflikteve</a:t>
            </a:r>
            <a:r>
              <a:rPr lang="en-US" sz="1300" dirty="0"/>
              <a:t> midis </a:t>
            </a:r>
            <a:r>
              <a:rPr lang="en-US" sz="1300" dirty="0" err="1"/>
              <a:t>versioneve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ndryshme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11. </a:t>
            </a:r>
            <a:r>
              <a:rPr lang="en-US" sz="1300" dirty="0" err="1"/>
              <a:t>Shfaqja</a:t>
            </a:r>
            <a:r>
              <a:rPr lang="en-US" sz="1300" dirty="0"/>
              <a:t> e </a:t>
            </a:r>
            <a:r>
              <a:rPr lang="en-US" sz="1300" dirty="0" err="1"/>
              <a:t>burimeve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ndryshme</a:t>
            </a:r>
            <a:r>
              <a:rPr lang="en-US" sz="1300" dirty="0"/>
              <a:t> </a:t>
            </a:r>
            <a:r>
              <a:rPr lang="en-US" sz="1300" dirty="0" err="1"/>
              <a:t>kur</a:t>
            </a:r>
            <a:r>
              <a:rPr lang="en-US" sz="1300" dirty="0"/>
              <a:t> </a:t>
            </a:r>
            <a:r>
              <a:rPr lang="en-US" sz="1300" dirty="0" err="1"/>
              <a:t>dokumentet</a:t>
            </a:r>
            <a:r>
              <a:rPr lang="en-US" sz="1300" dirty="0"/>
              <a:t> </a:t>
            </a:r>
            <a:r>
              <a:rPr lang="en-US" sz="1300" dirty="0" err="1"/>
              <a:t>japin</a:t>
            </a:r>
            <a:r>
              <a:rPr lang="en-US" sz="1300" dirty="0"/>
              <a:t> </a:t>
            </a:r>
            <a:r>
              <a:rPr lang="en-US" sz="1300" dirty="0" err="1"/>
              <a:t>përgjigje</a:t>
            </a:r>
            <a:r>
              <a:rPr lang="en-US" sz="1300" dirty="0"/>
              <a:t> </a:t>
            </a:r>
            <a:r>
              <a:rPr lang="en-US" sz="1300" dirty="0" err="1"/>
              <a:t>kontradiktore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12. </a:t>
            </a:r>
            <a:r>
              <a:rPr lang="en-US" sz="1300" dirty="0" err="1"/>
              <a:t>Mundësia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shënuar</a:t>
            </a:r>
            <a:r>
              <a:rPr lang="en-US" sz="1300" dirty="0"/>
              <a:t> </a:t>
            </a:r>
            <a:r>
              <a:rPr lang="en-US" sz="1300" dirty="0" err="1"/>
              <a:t>një</a:t>
            </a:r>
            <a:r>
              <a:rPr lang="en-US" sz="1300" dirty="0"/>
              <a:t> </a:t>
            </a:r>
            <a:r>
              <a:rPr lang="en-US" sz="1300" dirty="0" err="1"/>
              <a:t>dokument</a:t>
            </a:r>
            <a:r>
              <a:rPr lang="en-US" sz="1300" dirty="0"/>
              <a:t> </a:t>
            </a:r>
            <a:r>
              <a:rPr lang="en-US" sz="1300" dirty="0" err="1"/>
              <a:t>si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vjetëruar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për</a:t>
            </a:r>
            <a:r>
              <a:rPr lang="en-US" sz="1300" dirty="0"/>
              <a:t> ta </a:t>
            </a:r>
            <a:r>
              <a:rPr lang="en-US" sz="1300" dirty="0" err="1"/>
              <a:t>përjashtuar</a:t>
            </a:r>
            <a:r>
              <a:rPr lang="en-US" sz="1300" dirty="0"/>
              <a:t> </a:t>
            </a:r>
            <a:r>
              <a:rPr lang="en-US" sz="1300" dirty="0" err="1"/>
              <a:t>nga</a:t>
            </a:r>
            <a:r>
              <a:rPr lang="en-US" sz="1300" dirty="0"/>
              <a:t> </a:t>
            </a:r>
            <a:r>
              <a:rPr lang="en-US" sz="1300" dirty="0" err="1"/>
              <a:t>përgjigjet</a:t>
            </a:r>
            <a:r>
              <a:rPr lang="en-US" sz="1300" dirty="0"/>
              <a:t> e </a:t>
            </a:r>
            <a:r>
              <a:rPr lang="en-US" sz="1300" dirty="0" err="1"/>
              <a:t>ardhshme</a:t>
            </a:r>
            <a:r>
              <a:rPr lang="en-US" sz="1300" dirty="0"/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E308F85E-52F0-4718-4AC3-04E82D531382}"/>
              </a:ext>
            </a:extLst>
          </p:cNvPr>
          <p:cNvSpPr/>
          <p:nvPr/>
        </p:nvSpPr>
        <p:spPr>
          <a:xfrm>
            <a:off x="5303520" y="1374140"/>
            <a:ext cx="50292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FAZA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Analiza — Teknologjitë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TEKNOLOGJIA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PËRSHKRIMI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404872"/>
            <a:ext cx="10515600" cy="0"/>
          </a:xfrm>
          <a:prstGeom prst="line">
            <a:avLst/>
          </a:prstGeom>
          <a:noFill/>
          <a:ln w="15875">
            <a:solidFill>
              <a:srgbClr val="2B21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Dokumentim</a:t>
            </a: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automatik, Python modern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962656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62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9626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9626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364992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64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/>
              <a:t>Stilimi</a:t>
            </a:r>
            <a:endParaRPr lang="en-US" sz="1200" b="1" dirty="0"/>
          </a:p>
        </p:txBody>
      </p:sp>
      <p:sp>
        <p:nvSpPr>
          <p:cNvPr id="18" name="Text 16"/>
          <p:cNvSpPr/>
          <p:nvPr/>
        </p:nvSpPr>
        <p:spPr>
          <a:xfrm>
            <a:off x="3383280" y="33649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3649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Pamje</a:t>
            </a: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profesionale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767328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67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embedding-001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7673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Kthen tekstin në vektorë, falas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169664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69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41696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3.6-flash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1696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Gjeneron përgjigjet finale, i shpejtë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72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572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5720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vektorët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dokumenteve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integruar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(embedded), pa server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shtesë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2960" y="4974336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743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9743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9743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lehtë, zero konfigurim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" y="5376672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3766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Ekstraktim teksti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53766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pdfplumber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53766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Trajton</a:t>
            </a: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layout komplekse PDF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2960" y="5779008"/>
            <a:ext cx="105156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7790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83280" y="57790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tiktoken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7790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Numërim i saktë i token-ave</a:t>
            </a:r>
            <a:endParaRPr lang="en-US" sz="115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D6EE5862-9955-AA02-E3E5-B0BE77517064}"/>
              </a:ext>
            </a:extLst>
          </p:cNvPr>
          <p:cNvSpPr/>
          <p:nvPr/>
        </p:nvSpPr>
        <p:spPr>
          <a:xfrm>
            <a:off x="6492240" y="2962655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interaktiv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të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organizuar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dhe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të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sigurt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FAZA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Arkitektura dhe Flow-i i Sistemit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06040"/>
            <a:ext cx="2103120" cy="1051560"/>
          </a:xfrm>
          <a:prstGeom prst="rect">
            <a:avLst/>
          </a:prstGeom>
          <a:noFill/>
          <a:ln w="15875">
            <a:solidFill>
              <a:srgbClr val="D9A9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7818120" cy="2011680"/>
          </a:xfrm>
          <a:prstGeom prst="rect">
            <a:avLst/>
          </a:prstGeom>
          <a:noFill/>
          <a:ln w="12700">
            <a:solidFill>
              <a:srgbClr val="564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258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50" dirty="0">
                <a:solidFill>
                  <a:srgbClr val="9C8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BACKEND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 Processor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0332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ekstraktim + chunking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9340" y="2651760"/>
            <a:ext cx="0" cy="1325880"/>
          </a:xfrm>
          <a:prstGeom prst="line">
            <a:avLst/>
          </a:prstGeom>
          <a:noFill/>
          <a:ln w="9525">
            <a:solidFill>
              <a:srgbClr val="564A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09660" y="2651760"/>
            <a:ext cx="0" cy="1325880"/>
          </a:xfrm>
          <a:prstGeom prst="line">
            <a:avLst/>
          </a:prstGeom>
          <a:noFill/>
          <a:ln w="9525">
            <a:solidFill>
              <a:srgbClr val="564A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Service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82396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033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8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(metadata)                  · </a:t>
            </a:r>
            <a:r>
              <a:rPr lang="en-US" sz="950" dirty="0" err="1">
                <a:solidFill>
                  <a:srgbClr val="9C8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r>
              <a:rPr lang="en-US" sz="950" dirty="0">
                <a:solidFill>
                  <a:srgbClr val="9C8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(vektorë)               ·   Gemini (falas)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10515600" cy="0"/>
          </a:xfrm>
          <a:prstGeom prst="line">
            <a:avLst/>
          </a:prstGeom>
          <a:noFill/>
          <a:ln w="9525">
            <a:solidFill>
              <a:srgbClr val="564A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Rrjedha e punës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010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71600" y="499262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Ngarkimi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 PDF/Markdown → ekstraktim teksti → ndarje në chunks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525780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chunk → embedding (Gemini) → ruhet në ChromaDB; metadata → SQLite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541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71600" y="552297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Pyetja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</a:t>
            </a: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kërkohen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chunks më të </a:t>
            </a: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ngjashme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ChromaDB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71600" y="57881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relevante → Gemini si kontekst → përgjigje e bazuar në 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6071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71600" y="60533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Frontendi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shfaq</a:t>
            </a:r>
            <a:r>
              <a:rPr lang="en-US" sz="1150" dirty="0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përgjigjen bashkë me </a:t>
            </a:r>
            <a:r>
              <a:rPr lang="en-US" sz="1150" dirty="0" err="1">
                <a:solidFill>
                  <a:srgbClr val="E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burimet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FAZA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Dizajni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Ndërfaqja përbëhet nga dy pamje kryesore, të aksesueshme nga një navbar i thjeshtë.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5720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3448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 ngarkimit të dokumenteve (drag-and-drop) dhe menaxhimi i tyre — versionim, shënim si i vjetëruar, fshirje.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45720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6751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 e bisedës ku përdoruesi shkruan pyetje dhe merr përgjigje me burime të cituara.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3698A8-481D-5EE6-8F0A-3B0955B7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35" y="3205480"/>
            <a:ext cx="5886165" cy="31851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AFDD71-317A-F48E-CE55-FFC0346A0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019" y="3320288"/>
            <a:ext cx="5780091" cy="3051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FAZA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Zhvillimi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Çfarë u implementua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50008"/>
            <a:ext cx="50292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496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për dokumente dhe chat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118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Procesim dokumentesh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383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Ekstraktim teksti + ndarje në chunks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7581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739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Integrim me Gemini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dhe gjenerim përgjigjesh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79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4361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Ruajtje të dhënash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626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(metadata) + ChromaDB (vektorë)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001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(React+TS+Tailwind)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52486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pamje: Chat dhe Documents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Endpoints kryesore të API-t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350008"/>
            <a:ext cx="50292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5420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2542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/api/documents/upload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Ngarkon PDF/Markdown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871216"/>
            <a:ext cx="50292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9992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/api/documents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21240" y="2999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Liston dokumentet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328416"/>
            <a:ext cx="50292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4564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34564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/api/documents/{id}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21240" y="3456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Përditëson (outdated)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785616"/>
            <a:ext cx="50292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9136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3913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/api/documents/{id}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21240" y="39136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Fshin dokumentin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242816"/>
            <a:ext cx="50292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3708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4370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921240" y="4370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Bën një pyetje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4700016"/>
            <a:ext cx="5029200" cy="0"/>
          </a:xfrm>
          <a:prstGeom prst="line">
            <a:avLst/>
          </a:prstGeom>
          <a:noFill/>
          <a:ln w="6350">
            <a:solidFill>
              <a:srgbClr val="D8CF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8280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48280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21240" y="4828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Statusi i sistemit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FAZA6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1840" y="164592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EAC13E8-2402-8DDF-B5A7-8F17CCFB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" y="1673352"/>
            <a:ext cx="7315200" cy="403656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73758A2-E61E-548F-ED64-0A62D3DF2123}"/>
              </a:ext>
            </a:extLst>
          </p:cNvPr>
          <p:cNvSpPr txBox="1"/>
          <p:nvPr/>
        </p:nvSpPr>
        <p:spPr>
          <a:xfrm>
            <a:off x="1793397" y="1483596"/>
            <a:ext cx="19027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/>
              <a:t>Ngarkimi</a:t>
            </a:r>
            <a:r>
              <a:rPr lang="en-US" sz="1300" dirty="0"/>
              <a:t> I </a:t>
            </a:r>
            <a:r>
              <a:rPr lang="en-US" sz="1300" dirty="0" err="1"/>
              <a:t>dokumentave</a:t>
            </a:r>
            <a:r>
              <a:rPr lang="en-US" sz="1300" dirty="0"/>
              <a:t>: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18A2B15-BF9F-D89E-4B0F-0D615D807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779" y="5989320"/>
            <a:ext cx="8217322" cy="67313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031B4B45-A30C-8F75-A463-56E0FF4BF823}"/>
              </a:ext>
            </a:extLst>
          </p:cNvPr>
          <p:cNvSpPr txBox="1"/>
          <p:nvPr/>
        </p:nvSpPr>
        <p:spPr>
          <a:xfrm>
            <a:off x="8742837" y="5570837"/>
            <a:ext cx="240777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Kur </a:t>
            </a:r>
            <a:r>
              <a:rPr lang="en-US" sz="1300" dirty="0" err="1"/>
              <a:t>behet</a:t>
            </a:r>
            <a:r>
              <a:rPr lang="en-US" sz="1300" dirty="0"/>
              <a:t> </a:t>
            </a:r>
            <a:r>
              <a:rPr lang="en-US" sz="1300" dirty="0" err="1"/>
              <a:t>dokumenti</a:t>
            </a:r>
            <a:r>
              <a:rPr lang="en-US" sz="1300" dirty="0"/>
              <a:t> I </a:t>
            </a:r>
            <a:r>
              <a:rPr lang="en-US" sz="1300" dirty="0" err="1"/>
              <a:t>vjeteruar</a:t>
            </a:r>
            <a:r>
              <a:rPr lang="en-US" sz="13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51697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FAZA6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B21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1840" y="1645920"/>
            <a:ext cx="100584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962D86-620F-D50E-F040-9F6A9CCE3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53" y="1519429"/>
            <a:ext cx="5637063" cy="4896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00DB99-4D89-9779-D21A-E528A4DF8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80" y="260863"/>
            <a:ext cx="5637063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0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97280" y="1234440"/>
            <a:ext cx="4389120" cy="4389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3A2E27">
                    <a:alpha val="55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i="1" dirty="0" err="1">
                <a:solidFill>
                  <a:srgbClr val="FFFFFF"/>
                </a:solidFill>
                <a:latin typeface="Bookman Old Style" pitchFamily="34" charset="0"/>
              </a:rPr>
              <a:t>Faleminderit</a:t>
            </a:r>
            <a:r>
              <a:rPr lang="en-US" sz="4600" b="1" i="1" dirty="0">
                <a:solidFill>
                  <a:srgbClr val="FFFFFF"/>
                </a:solidFill>
                <a:latin typeface="Bookman Old Style" pitchFamily="34" charset="0"/>
              </a:rPr>
              <a:t>!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637276" y="3611880"/>
            <a:ext cx="914400" cy="0"/>
          </a:xfrm>
          <a:prstGeom prst="line">
            <a:avLst/>
          </a:prstGeom>
          <a:noFill/>
          <a:ln w="25400">
            <a:solidFill>
              <a:srgbClr val="B8503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842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9</cp:revision>
  <dcterms:created xsi:type="dcterms:W3CDTF">2026-08-27T11:14:03Z</dcterms:created>
  <dcterms:modified xsi:type="dcterms:W3CDTF">2026-08-27T14:26:16Z</dcterms:modified>
</cp:coreProperties>
</file>